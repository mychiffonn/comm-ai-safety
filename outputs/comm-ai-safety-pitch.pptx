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db672f369cf4848" /><Relationship Type="http://schemas.openxmlformats.org/officeDocument/2006/relationships/extended-properties" Target="/docProps/app.xml" Id="R107e23a2e7ef464a" /><Relationship Type="http://schemas.openxmlformats.org/officeDocument/2006/relationships/officeDocument" Target="/ppt/presentation.xml" Id="R57ec175d9958471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46274c3771b4c55"/>
  </p:sldMasterIdLst>
  <p:notesMasterIdLst>
    <p:notesMasterId xmlns:r="http://schemas.openxmlformats.org/officeDocument/2006/relationships" r:id="Rea30f640dbdc46a8"/>
  </p:notesMasterIdLst>
  <p:sldIdLst>
    <p:sldId xmlns:r="http://schemas.openxmlformats.org/officeDocument/2006/relationships" id="256" r:id="R505c64d6a8a54434"/>
    <p:sldId xmlns:r="http://schemas.openxmlformats.org/officeDocument/2006/relationships" id="257" r:id="Rb24403c913304fb6"/>
    <p:sldId xmlns:r="http://schemas.openxmlformats.org/officeDocument/2006/relationships" id="258" r:id="R66aa676970dd41d1"/>
    <p:sldId xmlns:r="http://schemas.openxmlformats.org/officeDocument/2006/relationships" id="259" r:id="Ra0896b9e70ab4ff5"/>
    <p:sldId xmlns:r="http://schemas.openxmlformats.org/officeDocument/2006/relationships" id="260" r:id="Ree1637f82d8246cd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5ad4876f2be4beb" /><Relationship Type="http://schemas.openxmlformats.org/officeDocument/2006/relationships/slideMaster" Target="/ppt/slideMasters/slideMaster1.xml" Id="R646274c3771b4c55" /><Relationship Type="http://schemas.openxmlformats.org/officeDocument/2006/relationships/notesMaster" Target="/ppt/notesMasters/notesMaster1.xml" Id="Rea30f640dbdc46a8" /><Relationship Type="http://schemas.openxmlformats.org/officeDocument/2006/relationships/presProps" Target="/ppt/presProps.xml" Id="Rbf19f200549e4c5a" /><Relationship Type="http://schemas.openxmlformats.org/officeDocument/2006/relationships/tableStyles" Target="/ppt/tableStyles.xml" Id="Rc13ce1cda61d43ab" /><Relationship Type="http://schemas.openxmlformats.org/officeDocument/2006/relationships/slide" Target="/ppt/slides/slide1.xml" Id="R505c64d6a8a54434" /><Relationship Type="http://schemas.openxmlformats.org/officeDocument/2006/relationships/slide" Target="/ppt/slides/slide2.xml" Id="Rb24403c913304fb6" /><Relationship Type="http://schemas.openxmlformats.org/officeDocument/2006/relationships/slide" Target="/ppt/slides/slide3.xml" Id="R66aa676970dd41d1" /><Relationship Type="http://schemas.openxmlformats.org/officeDocument/2006/relationships/slide" Target="/ppt/slides/slide4.xml" Id="Ra0896b9e70ab4ff5" /><Relationship Type="http://schemas.openxmlformats.org/officeDocument/2006/relationships/slide" Target="/ppt/slides/slide5.xml" Id="Ree1637f82d8246c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89ccdaad5f34ee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bc19e2697fa4837" /><Relationship Type="http://schemas.openxmlformats.org/officeDocument/2006/relationships/notesMaster" Target="/ppt/notesMasters/notesMaster1.xml" Id="R7b2c21c5969b469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8e425e181af4ec8" /><Relationship Type="http://schemas.openxmlformats.org/officeDocument/2006/relationships/notesMaster" Target="/ppt/notesMasters/notesMaster1.xml" Id="R9694647bcc524cc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c12f12231294006" /><Relationship Type="http://schemas.openxmlformats.org/officeDocument/2006/relationships/notesMaster" Target="/ppt/notesMasters/notesMaster1.xml" Id="Re98d3df8e1ca45c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38dfacbf63144fd" /><Relationship Type="http://schemas.openxmlformats.org/officeDocument/2006/relationships/notesMaster" Target="/ppt/notesMasters/notesMaster1.xml" Id="R9b0b15f03988456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3b334a1aa734649" /><Relationship Type="http://schemas.openxmlformats.org/officeDocument/2006/relationships/notesMaster" Target="/ppt/notesMasters/notesMaster1.xml" Id="R610a0cc842004cd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978ac4021e84f8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cc30072ada34790" /><Relationship Type="http://schemas.openxmlformats.org/officeDocument/2006/relationships/slideLayout" Target="/ppt/slideLayouts/slideLayout1.xml" Id="R5ead1ff873114d5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ead1ff873114d5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42512878d14f02" /><Relationship Type="http://schemas.openxmlformats.org/officeDocument/2006/relationships/notesSlide" Target="/ppt/notesSlides/notesSlide1.xml" Id="Re570da621191451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ff9702f2714f75" /><Relationship Type="http://schemas.openxmlformats.org/officeDocument/2006/relationships/notesSlide" Target="/ppt/notesSlides/notesSlide2.xml" Id="R7d01378b390645d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156966e2b444e4" /><Relationship Type="http://schemas.openxmlformats.org/officeDocument/2006/relationships/notesSlide" Target="/ppt/notesSlides/notesSlide3.xml" Id="Rf9b914bd27f84c4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8abda16fb6412c" /><Relationship Type="http://schemas.openxmlformats.org/officeDocument/2006/relationships/notesSlide" Target="/ppt/notesSlides/notesSlide4.xml" Id="Rf925c920f0ba494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389711bc0d410c" /><Relationship Type="http://schemas.openxmlformats.org/officeDocument/2006/relationships/notesSlide" Target="/ppt/notesSlides/notesSlide5.xml" Id="Rfe4bcca5c11948a2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-3-1">
            <a:extLst xmlns:a="http://schemas.openxmlformats.org/drawingml/2006/main">
              <a:ext uri="{FF2B5EF4-FFF2-40B4-BE49-F238E27FC236}">
                <a16:creationId xmlns:a16="http://schemas.microsoft.com/office/drawing/2014/main" id="{B60A08C0-AA7D-43A4-A21F-7516E290F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Make careful AI-safety communication the easy default.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532AFF79-5971-4AEC-8A0B-9C3B8F4F7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742212"/>
            <a:ext cx="5702332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comm-ai-safety turns technical sources into reviewable public communication—without losing the conditions that make a claim true.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4E4772C6-6B96-4C00-A41A-C9063E60A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5702332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AI-safety hackathon</a:t>
            </a:r>
          </a:p>
        </p:txBody>
      </p:sp>
    </p:spTree>
    <p:extLst>
      <p:ext uri="{BB962C8B-B14F-4D97-AF65-F5344CB8AC3E}">
        <p14:creationId xmlns:p14="http://schemas.microsoft.com/office/powerpoint/2010/main" val="118440986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818F424F-DC70-4BE1-90A7-61945CC02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3ABD9A44-6150-47A0-B5C8-1B5D7BF83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failure happens when evidence crosses audiences.</a:t>
            </a:r>
          </a:p>
        </p:txBody>
      </p:sp>
      <p:cxnSp>
        <p:nvCxnSpPr>
          <p:cNvPr id="18" name="Google-Shape-2259-p159-4"/>
          <p:cNvCxnSpPr/>
          <p:nvPr/>
        </p:nvCxnSpPr>
        <p:spPr>
          <a:xfrm xmlns:a="http://schemas.openxmlformats.org/drawingml/2006/main">
            <a:off x="337757" y="5341620"/>
            <a:ext cx="1224543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281486C9-742C-4161-8817-520253C86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5288089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4FA2EAEF-4FB0-40AB-B43E-532C5B9D2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5288089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3FD6D392-2F96-4DF2-AD28-6BBAA5D91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5288089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Rounded-Rectangle-19-8">
            <a:extLst xmlns:a="http://schemas.openxmlformats.org/drawingml/2006/main">
              <a:ext uri="{FF2B5EF4-FFF2-40B4-BE49-F238E27FC236}">
                <a16:creationId xmlns:a16="http://schemas.microsoft.com/office/drawing/2014/main" id="{1A595440-1354-40ED-9E54-07E72C8AF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401794"/>
            <a:ext cx="3568732" cy="3619500"/>
          </a:xfrm>
          <a:prstGeom xmlns:a="http://schemas.openxmlformats.org/drawingml/2006/main" prst="roundRect">
            <a:avLst>
              <a:gd name="adj" fmla="val 213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8" name="Content-Placeholder-8-9">
            <a:extLst xmlns:a="http://schemas.openxmlformats.org/drawingml/2006/main">
              <a:ext uri="{FF2B5EF4-FFF2-40B4-BE49-F238E27FC236}">
                <a16:creationId xmlns:a16="http://schemas.microsoft.com/office/drawing/2014/main" id="{93899F6B-39C1-41EC-8D17-203FB9732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421" y="1806797"/>
            <a:ext cx="2949321" cy="256679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Technical result</a:t>
            </a:r>
          </a:p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result is bounded by model, task, prompting, baseline, uncertainty, and caveats.</a:t>
            </a:r>
          </a:p>
        </p:txBody>
      </p:sp>
      <p:sp>
        <p:nvSpPr>
          <p:cNvPr id="9" name="Rounded-Rectangle-21-10">
            <a:extLst xmlns:a="http://schemas.openxmlformats.org/drawingml/2006/main">
              <a:ext uri="{FF2B5EF4-FFF2-40B4-BE49-F238E27FC236}">
                <a16:creationId xmlns:a16="http://schemas.microsoft.com/office/drawing/2014/main" id="{DDF4ACF4-2646-4EE3-8673-1E0203A68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8443" y="1401794"/>
            <a:ext cx="3568732" cy="3619500"/>
          </a:xfrm>
          <a:prstGeom xmlns:a="http://schemas.openxmlformats.org/drawingml/2006/main" prst="roundRect">
            <a:avLst>
              <a:gd name="adj" fmla="val 213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10" name="Content-Placeholder-8-11">
            <a:extLst xmlns:a="http://schemas.openxmlformats.org/drawingml/2006/main">
              <a:ext uri="{FF2B5EF4-FFF2-40B4-BE49-F238E27FC236}">
                <a16:creationId xmlns:a16="http://schemas.microsoft.com/office/drawing/2014/main" id="{3566BA3D-DE51-493D-B485-7A587606A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8196" y="1806797"/>
            <a:ext cx="2949321" cy="256679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Public artifact</a:t>
            </a:r>
          </a:p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release, post, visual, or demo must stay clear, useful, and faithful under compression.</a:t>
            </a:r>
          </a:p>
        </p:txBody>
      </p:sp>
      <p:sp>
        <p:nvSpPr>
          <p:cNvPr id="11" name="Rounded-Rectangle-23-12">
            <a:extLst xmlns:a="http://schemas.openxmlformats.org/drawingml/2006/main">
              <a:ext uri="{FF2B5EF4-FFF2-40B4-BE49-F238E27FC236}">
                <a16:creationId xmlns:a16="http://schemas.microsoft.com/office/drawing/2014/main" id="{7115DF8F-4BAF-4CB3-BD94-BB299D40E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7506" y="1401794"/>
            <a:ext cx="3568732" cy="3619500"/>
          </a:xfrm>
          <a:prstGeom xmlns:a="http://schemas.openxmlformats.org/drawingml/2006/main" prst="roundRect">
            <a:avLst>
              <a:gd name="adj" fmla="val 213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12" name="Content-Placeholder-8-13">
            <a:extLst xmlns:a="http://schemas.openxmlformats.org/drawingml/2006/main">
              <a:ext uri="{FF2B5EF4-FFF2-40B4-BE49-F238E27FC236}">
                <a16:creationId xmlns:a16="http://schemas.microsoft.com/office/drawing/2014/main" id="{17856222-EC88-430F-B123-E99D8572D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7259" y="1806797"/>
            <a:ext cx="2949321" cy="256679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Avoidable distortion</a:t>
            </a:r>
          </a:p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Capability can become propensity; a benchmark can become real-world harm; a demo can become a misleading proxy.</a:t>
            </a:r>
          </a:p>
        </p:txBody>
      </p:sp>
      <p:sp>
        <p:nvSpPr>
          <p:cNvPr id="13" name="Text-Placeholder-16-14">
            <a:extLst xmlns:a="http://schemas.openxmlformats.org/drawingml/2006/main">
              <a:ext uri="{FF2B5EF4-FFF2-40B4-BE49-F238E27FC236}">
                <a16:creationId xmlns:a16="http://schemas.microsoft.com/office/drawing/2014/main" id="{80E95FDF-15E5-4FED-97FF-244A5C1F7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5602414"/>
            <a:ext cx="2595944" cy="3919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translation</a:t>
            </a:r>
          </a:p>
        </p:txBody>
      </p:sp>
      <p:sp>
        <p:nvSpPr>
          <p:cNvPr id="14" name="Text-Placeholder-16-15">
            <a:extLst xmlns:a="http://schemas.openxmlformats.org/drawingml/2006/main">
              <a:ext uri="{FF2B5EF4-FFF2-40B4-BE49-F238E27FC236}">
                <a16:creationId xmlns:a16="http://schemas.microsoft.com/office/drawing/2014/main" id="{1AE6273F-922E-4A3D-81AA-F863047BE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906" y="5602414"/>
            <a:ext cx="2595944" cy="3919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source</a:t>
            </a:r>
          </a:p>
        </p:txBody>
      </p:sp>
      <p:sp>
        <p:nvSpPr>
          <p:cNvPr id="15" name="Text-Placeholder-16-16">
            <a:extLst xmlns:a="http://schemas.openxmlformats.org/drawingml/2006/main">
              <a:ext uri="{FF2B5EF4-FFF2-40B4-BE49-F238E27FC236}">
                <a16:creationId xmlns:a16="http://schemas.microsoft.com/office/drawing/2014/main" id="{121C0406-C692-48EB-98B1-F50CBC864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5409" y="5602414"/>
            <a:ext cx="2595944" cy="3919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reader belief</a:t>
            </a:r>
          </a:p>
        </p:txBody>
      </p:sp>
    </p:spTree>
    <p:extLst>
      <p:ext uri="{BB962C8B-B14F-4D97-AF65-F5344CB8AC3E}">
        <p14:creationId xmlns:p14="http://schemas.microsoft.com/office/powerpoint/2010/main" val="1497284916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4DB0676B-9E69-49F0-8FFD-91F6D315F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6F0A4952-F1F0-426D-B722-A05831EC4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small workflow creates a practical quality-control layer.</a:t>
            </a:r>
          </a:p>
        </p:txBody>
      </p:sp>
      <p:cxnSp>
        <p:nvCxnSpPr>
          <p:cNvPr id="18" name="Google-Shape-2259-p159-4"/>
          <p:cNvCxnSpPr/>
          <p:nvPr/>
        </p:nvCxnSpPr>
        <p:spPr>
          <a:xfrm xmlns:a="http://schemas.openxmlformats.org/drawingml/2006/main">
            <a:off x="337757" y="5341620"/>
            <a:ext cx="1224543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5C86F75A-6E03-4ECC-A4CD-C5B679F23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5288089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7C278E14-D9A5-4B2B-A266-0419C426C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5288089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5E724001-B311-49C7-A9D4-0AEAB8B29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5288089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Rounded-Rectangle-19-8">
            <a:extLst xmlns:a="http://schemas.openxmlformats.org/drawingml/2006/main">
              <a:ext uri="{FF2B5EF4-FFF2-40B4-BE49-F238E27FC236}">
                <a16:creationId xmlns:a16="http://schemas.microsoft.com/office/drawing/2014/main" id="{2BFBC34D-7EC5-4FBE-B2FD-07067B1A1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401794"/>
            <a:ext cx="3568732" cy="3619500"/>
          </a:xfrm>
          <a:prstGeom xmlns:a="http://schemas.openxmlformats.org/drawingml/2006/main" prst="roundRect">
            <a:avLst>
              <a:gd name="adj" fmla="val 213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8" name="Content-Placeholder-8-9">
            <a:extLst xmlns:a="http://schemas.openxmlformats.org/drawingml/2006/main">
              <a:ext uri="{FF2B5EF4-FFF2-40B4-BE49-F238E27FC236}">
                <a16:creationId xmlns:a16="http://schemas.microsoft.com/office/drawing/2014/main" id="{01951E19-3D95-40CA-8E0D-A1876684B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421" y="1806797"/>
            <a:ext cx="2949321" cy="256679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1. Anchor claims</a:t>
            </a:r>
          </a:p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Build a compact ledger tied to primary sources, conditions, numbers, scope, and caveats.</a:t>
            </a:r>
          </a:p>
        </p:txBody>
      </p:sp>
      <p:sp>
        <p:nvSpPr>
          <p:cNvPr id="9" name="Rounded-Rectangle-21-10">
            <a:extLst xmlns:a="http://schemas.openxmlformats.org/drawingml/2006/main">
              <a:ext uri="{FF2B5EF4-FFF2-40B4-BE49-F238E27FC236}">
                <a16:creationId xmlns:a16="http://schemas.microsoft.com/office/drawing/2014/main" id="{79365177-7BBD-4CAA-9192-969F7E8A4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8443" y="1401794"/>
            <a:ext cx="3568732" cy="3619500"/>
          </a:xfrm>
          <a:prstGeom xmlns:a="http://schemas.openxmlformats.org/drawingml/2006/main" prst="roundRect">
            <a:avLst>
              <a:gd name="adj" fmla="val 213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10" name="Content-Placeholder-8-11">
            <a:extLst xmlns:a="http://schemas.openxmlformats.org/drawingml/2006/main">
              <a:ext uri="{FF2B5EF4-FFF2-40B4-BE49-F238E27FC236}">
                <a16:creationId xmlns:a16="http://schemas.microsoft.com/office/drawing/2014/main" id="{C6BDAD01-F92D-4CF5-A88C-5037BF3EC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8196" y="1806797"/>
            <a:ext cx="2949321" cy="256679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2. Adapt responsibly</a:t>
            </a:r>
          </a:p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researcher validates the main claims; the authoring skill fits them to one defined audience.</a:t>
            </a:r>
          </a:p>
        </p:txBody>
      </p:sp>
      <p:sp>
        <p:nvSpPr>
          <p:cNvPr id="11" name="Rounded-Rectangle-23-12">
            <a:extLst xmlns:a="http://schemas.openxmlformats.org/drawingml/2006/main">
              <a:ext uri="{FF2B5EF4-FFF2-40B4-BE49-F238E27FC236}">
                <a16:creationId xmlns:a16="http://schemas.microsoft.com/office/drawing/2014/main" id="{66B66F33-55F6-494A-8D46-7667F9095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7506" y="1401794"/>
            <a:ext cx="3568732" cy="3619500"/>
          </a:xfrm>
          <a:prstGeom xmlns:a="http://schemas.openxmlformats.org/drawingml/2006/main" prst="roundRect">
            <a:avLst>
              <a:gd name="adj" fmla="val 213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12" name="Content-Placeholder-8-13">
            <a:extLst xmlns:a="http://schemas.openxmlformats.org/drawingml/2006/main">
              <a:ext uri="{FF2B5EF4-FFF2-40B4-BE49-F238E27FC236}">
                <a16:creationId xmlns:a16="http://schemas.microsoft.com/office/drawing/2014/main" id="{6C3CA84D-C234-4626-AFF7-FD8A1E5FC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7259" y="1806797"/>
            <a:ext cx="2949321" cy="256679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3. Audit before release</a:t>
            </a:r>
          </a:p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Check the finished artifact for fidelity, missing context, unsafe demos, rights, and accessibility.</a:t>
            </a:r>
          </a:p>
        </p:txBody>
      </p:sp>
      <p:sp>
        <p:nvSpPr>
          <p:cNvPr id="13" name="Text-Placeholder-16-14">
            <a:extLst xmlns:a="http://schemas.openxmlformats.org/drawingml/2006/main">
              <a:ext uri="{FF2B5EF4-FFF2-40B4-BE49-F238E27FC236}">
                <a16:creationId xmlns:a16="http://schemas.microsoft.com/office/drawing/2014/main" id="{E995742B-B4FF-428F-B180-80B3332EC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5602414"/>
            <a:ext cx="2595944" cy="3919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communication</a:t>
            </a:r>
          </a:p>
        </p:txBody>
      </p:sp>
      <p:sp>
        <p:nvSpPr>
          <p:cNvPr id="14" name="Text-Placeholder-16-15">
            <a:extLst xmlns:a="http://schemas.openxmlformats.org/drawingml/2006/main">
              <a:ext uri="{FF2B5EF4-FFF2-40B4-BE49-F238E27FC236}">
                <a16:creationId xmlns:a16="http://schemas.microsoft.com/office/drawing/2014/main" id="{AF9A72CB-8E64-417C-B8A6-161279C57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906" y="5602414"/>
            <a:ext cx="2595944" cy="3919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evidence</a:t>
            </a:r>
          </a:p>
        </p:txBody>
      </p:sp>
      <p:sp>
        <p:nvSpPr>
          <p:cNvPr id="15" name="Text-Placeholder-16-16">
            <a:extLst xmlns:a="http://schemas.openxmlformats.org/drawingml/2006/main">
              <a:ext uri="{FF2B5EF4-FFF2-40B4-BE49-F238E27FC236}">
                <a16:creationId xmlns:a16="http://schemas.microsoft.com/office/drawing/2014/main" id="{757C3186-A40A-46C1-8B9F-5F85DA5D8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5409" y="5602414"/>
            <a:ext cx="2595944" cy="3919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review</a:t>
            </a:r>
          </a:p>
        </p:txBody>
      </p:sp>
    </p:spTree>
    <p:extLst>
      <p:ext uri="{BB962C8B-B14F-4D97-AF65-F5344CB8AC3E}">
        <p14:creationId xmlns:p14="http://schemas.microsoft.com/office/powerpoint/2010/main" val="1300614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273D0A52-FACA-40F5-A62B-96A4D3E43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15367DF3-955D-4BB8-9328-E27765A6A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519"/>
            <a:ext cx="11404568" cy="128301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Three skills cover the channels where nuance most often disappears.</a:t>
            </a:r>
          </a:p>
        </p:txBody>
      </p:sp>
      <p:sp>
        <p:nvSpPr>
          <p:cNvPr id="3" name="Rounded-Rectangle-9-4">
            <a:extLst xmlns:a="http://schemas.openxmlformats.org/drawingml/2006/main">
              <a:ext uri="{FF2B5EF4-FFF2-40B4-BE49-F238E27FC236}">
                <a16:creationId xmlns:a16="http://schemas.microsoft.com/office/drawing/2014/main" id="{97F884DD-DDB1-4AB7-AFFE-B937CE9C7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8920" y="3365468"/>
            <a:ext cx="3568732" cy="2628900"/>
          </a:xfrm>
          <a:prstGeom xmlns:a="http://schemas.openxmlformats.org/drawingml/2006/main" prst="roundRect">
            <a:avLst>
              <a:gd name="adj" fmla="val 2899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Rounded-Rectangle-10-5">
            <a:extLst xmlns:a="http://schemas.openxmlformats.org/drawingml/2006/main">
              <a:ext uri="{FF2B5EF4-FFF2-40B4-BE49-F238E27FC236}">
                <a16:creationId xmlns:a16="http://schemas.microsoft.com/office/drawing/2014/main" id="{BB20877C-1645-423C-B402-633C0A5BD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365468"/>
            <a:ext cx="3568732" cy="2628900"/>
          </a:xfrm>
          <a:prstGeom xmlns:a="http://schemas.openxmlformats.org/drawingml/2006/main" prst="roundRect">
            <a:avLst>
              <a:gd name="adj" fmla="val 2899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5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804B88D8-5EB7-4D2E-A713-5CE638DBD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1816" y="4146137"/>
            <a:ext cx="2949321" cy="143284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comm-audit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claim-by-claim check of conditions, caveats, quantitative context, safety, rights, and access.</a:t>
            </a:r>
          </a:p>
        </p:txBody>
      </p:sp>
      <p:sp>
        <p:nvSpPr>
          <p:cNvPr id="6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02E4DD45-9743-4421-85E7-E09C13C4F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6115" y="4146137"/>
            <a:ext cx="2949321" cy="143284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One enforceable rule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No artifact is called audited or publishable until the required human checkpoints and material audit items are resolved.</a:t>
            </a:r>
          </a:p>
        </p:txBody>
      </p:sp>
      <p:sp>
        <p:nvSpPr>
          <p:cNvPr id="7" name="Google-Shape-340-p61-8">
            <a:extLst xmlns:a="http://schemas.openxmlformats.org/drawingml/2006/main">
              <a:ext uri="{FF2B5EF4-FFF2-40B4-BE49-F238E27FC236}">
                <a16:creationId xmlns:a16="http://schemas.microsoft.com/office/drawing/2014/main" id="{D81837F7-47AD-4F25-A0A4-B6985A1C5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7626" y="3694081"/>
            <a:ext cx="233839" cy="233744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8" name="Google-Shape-340-p61-9">
            <a:extLst xmlns:a="http://schemas.openxmlformats.org/drawingml/2006/main">
              <a:ext uri="{FF2B5EF4-FFF2-40B4-BE49-F238E27FC236}">
                <a16:creationId xmlns:a16="http://schemas.microsoft.com/office/drawing/2014/main" id="{2E1C6600-98BD-4486-94F1-43F4D2FAC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3257" y="3694081"/>
            <a:ext cx="233839" cy="233744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9" name="Rounded-Rectangle-5-10">
            <a:extLst xmlns:a="http://schemas.openxmlformats.org/drawingml/2006/main">
              <a:ext uri="{FF2B5EF4-FFF2-40B4-BE49-F238E27FC236}">
                <a16:creationId xmlns:a16="http://schemas.microsoft.com/office/drawing/2014/main" id="{ACF66565-F725-4989-9967-560D5B82F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334" y="3365468"/>
            <a:ext cx="3568732" cy="2628900"/>
          </a:xfrm>
          <a:prstGeom xmlns:a="http://schemas.openxmlformats.org/drawingml/2006/main" prst="roundRect">
            <a:avLst>
              <a:gd name="adj" fmla="val 2899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10" name="Content-Placeholder-9-11">
            <a:extLst xmlns:a="http://schemas.openxmlformats.org/drawingml/2006/main">
              <a:ext uri="{FF2B5EF4-FFF2-40B4-BE49-F238E27FC236}">
                <a16:creationId xmlns:a16="http://schemas.microsoft.com/office/drawing/2014/main" id="{9BA6B878-D017-40EF-A059-CEDC6E38C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135" y="4146137"/>
            <a:ext cx="2949321" cy="143284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comm-press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Source-verifiable releases, media briefs, pitches, and journalist FAQs without manufactured hype.</a:t>
            </a:r>
          </a:p>
        </p:txBody>
      </p:sp>
      <p:sp>
        <p:nvSpPr>
          <p:cNvPr id="11" name="Google-Shape-340-p61-12">
            <a:extLst xmlns:a="http://schemas.openxmlformats.org/drawingml/2006/main">
              <a:ext uri="{FF2B5EF4-FFF2-40B4-BE49-F238E27FC236}">
                <a16:creationId xmlns:a16="http://schemas.microsoft.com/office/drawing/2014/main" id="{FDDEFE5A-7798-4DE3-AB30-0A4BA514F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041" y="3694081"/>
            <a:ext cx="233839" cy="233744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12" name="Content-Placeholder-15-13">
            <a:extLst xmlns:a="http://schemas.openxmlformats.org/drawingml/2006/main">
              <a:ext uri="{FF2B5EF4-FFF2-40B4-BE49-F238E27FC236}">
                <a16:creationId xmlns:a16="http://schemas.microsoft.com/office/drawing/2014/main" id="{068AE7BB-D0E2-48CE-852B-B22F59EE3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450562"/>
            <a:ext cx="11404568" cy="162925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comm-public</a:t>
            </a:r>
          </a:p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Explainers, FAQs, social copy, visual briefs, and safer demo briefs for a named audience.</a:t>
            </a:r>
          </a:p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Built from primary sources and a named audience brief.</a:t>
            </a:r>
          </a:p>
        </p:txBody>
      </p:sp>
    </p:spTree>
    <p:extLst>
      <p:ext uri="{BB962C8B-B14F-4D97-AF65-F5344CB8AC3E}">
        <p14:creationId xmlns:p14="http://schemas.microsoft.com/office/powerpoint/2010/main" val="91772310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-3-1">
            <a:extLst xmlns:a="http://schemas.openxmlformats.org/drawingml/2006/main">
              <a:ext uri="{FF2B5EF4-FFF2-40B4-BE49-F238E27FC236}">
                <a16:creationId xmlns:a16="http://schemas.microsoft.com/office/drawing/2014/main" id="{5B475A2B-7D84-4038-9B9F-4330E0C07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5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Install the skills. Start with the worked demo. Make a public claim easier to verify.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644C4458-B0D6-4E85-A599-9343393A5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973288"/>
            <a:ext cx="3568732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github.com/chiffonng/comm-ai-safety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Worked case: Emergent Misalignment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Open Agent Skills · source-linked · human-in-the-loop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7D934512-83EA-4A41-9178-D03FA7E7F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1612868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Ready to use</a:t>
            </a:r>
          </a:p>
        </p:txBody>
      </p:sp>
    </p:spTree>
    <p:extLst>
      <p:ext uri="{BB962C8B-B14F-4D97-AF65-F5344CB8AC3E}">
        <p14:creationId xmlns:p14="http://schemas.microsoft.com/office/powerpoint/2010/main" val="95756982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2026-07-19T00:40:52.1160000Z</dcterms:created>
  <dcterms:modified xsi:type="dcterms:W3CDTF">2026-07-19T00:40:52.1160000Z</dcterms:modified>
</coreProperties>
</file>